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3A5F"/>
                </a:solidFill>
                <a:latin typeface="Malgun Gothic"/>
              </a:rPr>
              <a:t>AX 툴 기반 평가 체계 및 CAE 품질 협업 모델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7A"/>
                </a:solidFill>
                <a:latin typeface="Malgun Gothic"/>
              </a:rPr>
              <a:t>물성 해석 연계 신뢰성 예측 고도화 — 복합 물성의 실물 시험–해석 상호 검증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200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7A"/>
                </a:solidFill>
                <a:latin typeface="Malgun Gothic"/>
              </a:rPr>
              <a:t>복합 물성 TF 킥오프  ·  1/4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7295" cy="9144"/>
          </a:xfrm>
          <a:prstGeom prst="rect">
            <a:avLst/>
          </a:prstGeom>
          <a:solidFill>
            <a:srgbClr val="D9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algun Gothic"/>
              </a:rPr>
              <a:t>과제 배경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394960" cy="13258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5166360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1F242B"/>
                </a:solidFill>
                <a:latin typeface="Malgun Gothic"/>
              </a:rPr>
              <a:t>• 각 사업부 복합 물성의 최대 활용, 미보유 물성의 AX 기반 신속 도출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1F242B"/>
                </a:solidFill>
                <a:latin typeface="Malgun Gothic"/>
              </a:rPr>
              <a:t>• 해석 통한 신뢰성 리스크 도출 — 제한된 실물 시료의 의미 있는 시험 배분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1F242B"/>
                </a:solidFill>
                <a:latin typeface="Malgun Gothic"/>
              </a:rPr>
              <a:t>• 실물 시험 문제 발생 시 메커니즘의 신속 도출 툴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algun Gothic"/>
              </a:rPr>
              <a:t>현황·제약 — 복합 물성이 통상 물성과 다른 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5394960" cy="868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438144"/>
            <a:ext cx="51663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• 복합 구조 부품(디스플레이 적층 등)의 층별 물성 개별 측정 불가 — 복합체 시험 + 역공학 추정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• 업체 제공 물성의 등재 불가(컴플라이언스) — 자체 시험·추정값 중심 축적 → 역공학의 필요성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• 시장 불량 재현 시험법 부재, 평가 데이터의 PDF 보관 — AI 활용 가능 구조 미확보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32588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algun Gothic"/>
              </a:rPr>
              <a:t>추진 방향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5559552" cy="13258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1691640"/>
            <a:ext cx="530352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① 실물 시험–해석 간 상호 검증이 가능한 AX 시스템 구축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② 불필요한 시험·해석 최소화 — 승인 기간 단축 및 판정 신뢰도 향상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③ 사업부 간 복합 물성 DB 공유·활용 — 평가 데이터 활용도 제고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6324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algun Gothic"/>
              </a:rPr>
              <a:t>핵심 과제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383280"/>
            <a:ext cx="5559552" cy="8686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9360" y="3419856"/>
            <a:ext cx="3017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① 복합 물성 기준정보 확립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419856"/>
            <a:ext cx="24688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7A"/>
                </a:solidFill>
                <a:latin typeface="Malgun Gothic"/>
              </a:rPr>
              <a:t>구성체·변형체, 시험법, 불량 모드, 부품 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21024"/>
            <a:ext cx="3017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② 복합 물성 DB 플랫폼 구축·사업부 간 공유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621024"/>
            <a:ext cx="24688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7A"/>
                </a:solidFill>
                <a:latin typeface="Malgun Gothic"/>
              </a:rPr>
              <a:t>재료 물성 체계 위에 복합 물성 축 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22192"/>
            <a:ext cx="3017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③ 측정·평가 데이터 등록 포맷 표준화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822192"/>
            <a:ext cx="24688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7A"/>
                </a:solidFill>
                <a:latin typeface="Malgun Gothic"/>
              </a:rPr>
              <a:t>온습도·DMA·피로 시험 및 평가 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23360"/>
            <a:ext cx="301752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④ 실물 시험–해석 상호 검증 체계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023360"/>
            <a:ext cx="2468880" cy="2011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7A"/>
                </a:solidFill>
                <a:latin typeface="Malgun Gothic"/>
              </a:rPr>
              <a:t>역공학 추정, 층 변경 판별, 시뮬레이션 방법론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34840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A83232"/>
                </a:solidFill>
                <a:latin typeface="Malgun Gothic"/>
              </a:rPr>
              <a:t>추진 전제 — 후속 단계의 선결 조건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80"/>
            <a:ext cx="1127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484632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E3A5F"/>
                </a:solidFill>
                <a:latin typeface="Malgun Gothic"/>
              </a:rPr>
              <a:t>재료 물성과 복합 물성의 구분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120640"/>
            <a:ext cx="26974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재료 본연 물성(규격·인증·밀시트)은 CS 환경센터 거버넌스. 과제 범위는 복합 물성 — 구성체 거동·역공학 추정값·시험법. 재료 물성은 참조 기반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484632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E3A5F"/>
                </a:solidFill>
                <a:latin typeface="Malgun Gothic"/>
              </a:rPr>
              <a:t>실물 시험의 내부 수행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79" y="5120640"/>
            <a:ext cx="26974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업체 측정 데이터 등재 배제. 신뢰성 그룹 직접 시험 체계를 데이터 원천으로 확립. 추정값은 출처·가정 필수 기재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84632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E3A5F"/>
                </a:solidFill>
                <a:latin typeface="Malgun Gothic"/>
              </a:rPr>
              <a:t>기존 시험 데이터 체계와의 정렬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5120640"/>
            <a:ext cx="26974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부품 코드·시험 종류·조건·판정·성적서를 현행 방식 그대로 수용. 신규 식별자 생성 배제 — MX 현황 확인이 DB 설계의 선행 조건 (4장)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846320"/>
            <a:ext cx="2697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E3A5F"/>
                </a:solidFill>
                <a:latin typeface="Malgun Gothic"/>
              </a:rPr>
              <a:t>등재 제외·AI-ready 기준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120640"/>
            <a:ext cx="26974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개인정보·전략과제·업체 기밀 제외, 등급 체계 단일화. 구성체–시험법–불량 모드–추정값의 관계 구조 확립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algun Gothic"/>
              </a:rPr>
              <a:t>역할 분담 (R&amp;R) — GTR 디지털트윈사무국 · 개발디지털트윈 · MX CAE · 신뢰성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7A"/>
                </a:solidFill>
                <a:latin typeface="Malgun Gothic"/>
              </a:rPr>
              <a:t>플랫폼 개발 · 시험 조건 제반 · 역공학 기준 정립 · 시험 운영 — CAE 품질 협업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200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7A"/>
                </a:solidFill>
                <a:latin typeface="Malgun Gothic"/>
              </a:rPr>
              <a:t>복합 물성 TF 킥오프  · 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7295" cy="9144"/>
          </a:xfrm>
          <a:prstGeom prst="rect">
            <a:avLst/>
          </a:prstGeom>
          <a:solidFill>
            <a:srgbClr val="D9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724912" cy="5669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44168"/>
            <a:ext cx="25420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GTR 디지털트윈사무국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2542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Malgun Gothic"/>
              </a:rPr>
              <a:t>플랫폼 개발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92807"/>
            <a:ext cx="2724912" cy="2514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0352" y="1965960"/>
            <a:ext cx="2578608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복합 물성 플랫폼 개발·운영 — 구성체·시험법·추정 물성 데이터 구조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사업부 간 공유 체계, 등급·출처 관리, AX 공유 연결 체계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MX 현행 시험 데이터 체계 확인·정렬 (4장 요청 목록)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현행 MatNexus 기반 확장 — 구성체·시험법·추정 물성 모듈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254203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E3A5F"/>
                </a:solidFill>
                <a:latin typeface="Malgun Gothic"/>
              </a:rPr>
              <a:t>산출물: 플랫폼 · 데이터 구조 · 공유 체계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8024" y="1325880"/>
            <a:ext cx="2724912" cy="566928"/>
          </a:xfrm>
          <a:prstGeom prst="rect">
            <a:avLst/>
          </a:prstGeom>
          <a:solidFill>
            <a:srgbClr val="4A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99464" y="1344168"/>
            <a:ext cx="25420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GTR 개발디지털트윈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9464" y="1618488"/>
            <a:ext cx="2542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Malgun Gothic"/>
              </a:rPr>
              <a:t>시험 조건 제반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8024" y="1892807"/>
            <a:ext cx="2724912" cy="2514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81176" y="1965960"/>
            <a:ext cx="2578608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부품 단품 시험용 지그 제작·버전 관리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구성체 간 비교 규칙 수립 — 기준 시료 선정, 비교 지표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시험 조건 성립을 위한 제반 정보 제공 — 시험법 초안의 필수 항목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구성체(층 구조) 정보 확보 경로 — PLM/BOM 접점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9464" y="4069080"/>
            <a:ext cx="254203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4A5E7A"/>
                </a:solidFill>
                <a:latin typeface="Malgun Gothic"/>
              </a:rPr>
              <a:t>산출물: 지그 · 비교 규칙 · 시험 조건 체크리스트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8849" y="1325880"/>
            <a:ext cx="2724912" cy="5669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50289" y="1344168"/>
            <a:ext cx="25420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MX CAE 그룹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0289" y="1618488"/>
            <a:ext cx="2542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Malgun Gothic"/>
              </a:rPr>
              <a:t>역공학 · 판별 기준 · 시뮬레이션 기준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8849" y="1892807"/>
            <a:ext cx="2724912" cy="2514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32001" y="1965960"/>
            <a:ext cx="2578608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복합체 시험 결과의 역공학 기반 층 물성 추정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층 변경 판별 기준, 해석 기반 신뢰성 리스크 도출 — 시료 배분 우선순위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시뮬레이션 방법론(모델링·경계조건·물성 할당)의 기준 정립 — 시험법과 쌍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디지털트윈사무국 물성 협업 — 역공학·판별 요구사항 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0289" y="4069080"/>
            <a:ext cx="254203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0E7C86"/>
                </a:solidFill>
                <a:latin typeface="Malgun Gothic"/>
              </a:rPr>
              <a:t>산출물: 역공학 파이프라인 · 판별 기준 · 시뮬레이션 기준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9674" y="1325880"/>
            <a:ext cx="2724912" cy="566928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01114" y="1344168"/>
            <a:ext cx="25420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MX 신뢰성 그룹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1114" y="1618488"/>
            <a:ext cx="254203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Malgun Gothic"/>
              </a:rPr>
              <a:t>규격 내 시험 수립·운영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9674" y="1892807"/>
            <a:ext cx="2724912" cy="2514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82826" y="1965960"/>
            <a:ext cx="2578608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시장 불량 재현 부품 단품 시험법의 개발·검증·운영 — 초안→검증→규격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온습도·DMA·피로 시험 수행, 평가 데이터 등록 (데이터 오너), 재현 판정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현행 시험 데이터 관리 체계·판정·성적서 정보 제공 (4장 A·B 절)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시장 불량 모드·스펙 연계 시험법 발굴 — AI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1114" y="4069080"/>
            <a:ext cx="254203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B46A00"/>
                </a:solidFill>
                <a:latin typeface="Malgun Gothic"/>
              </a:rPr>
              <a:t>산출물: 시험법 · 시험 데이터 · 재현 판정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algun Gothic"/>
              </a:rPr>
              <a:t>협업 순환 구조 — 실물 시험과 해석의 상호 검증 사이클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92040"/>
            <a:ext cx="2057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2920" y="4919472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불량 모드·구성체 정의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48656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B46A00"/>
                </a:solidFill>
                <a:latin typeface="Malgun Gothic"/>
              </a:rPr>
              <a:t>신뢰성 + 개발DT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96312" y="5029200"/>
            <a:ext cx="28346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7A"/>
                </a:solidFill>
                <a:latin typeface="Malgun Gothic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61488" y="4892040"/>
            <a:ext cx="2057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2807208" y="4919472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해석 기반 리스크·시료 배분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208" y="5248656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E7C86"/>
                </a:solidFill>
                <a:latin typeface="Malgun Gothic"/>
              </a:rPr>
              <a:t>CAE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5029200"/>
            <a:ext cx="28346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7A"/>
                </a:solidFill>
                <a:latin typeface="Malgun Gothic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65776" y="4892040"/>
            <a:ext cx="2057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111496" y="4919472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시험법·지그 → 부품 시험·등록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1496" y="5248656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B46A00"/>
                </a:solidFill>
                <a:latin typeface="Malgun Gothic"/>
              </a:rPr>
              <a:t>신뢰성 + 개발DT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4888" y="5029200"/>
            <a:ext cx="28346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7A"/>
                </a:solidFill>
                <a:latin typeface="Malgun Gothic"/>
              </a:rPr>
              <a:t>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0064" y="4892040"/>
            <a:ext cx="2057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415784" y="4919472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역공학·판별·시뮬레이션 기준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5784" y="5248656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0E7C86"/>
                </a:solidFill>
                <a:latin typeface="Malgun Gothic"/>
              </a:rPr>
              <a:t>CAE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5029200"/>
            <a:ext cx="28346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7A"/>
                </a:solidFill>
                <a:latin typeface="Malgun Gothic"/>
              </a:rPr>
              <a:t>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74352" y="4892040"/>
            <a:ext cx="20574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720072" y="4919472"/>
            <a:ext cx="1965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플랫폼 축적 → 시험법 검증·개선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72" y="5248656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E3A5F"/>
                </a:solidFill>
                <a:latin typeface="Malgun Gothic"/>
              </a:rPr>
              <a:t>DT사무국 + 신뢰성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94360" y="58064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E3A5F"/>
                </a:solidFill>
                <a:latin typeface="Malgun Gothic"/>
              </a:rPr>
              <a:t>협력 조직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CS 환경센터 — 재료 본연 물성 거버넌스, 층 ↔ 재료 참조 접점만 정립.   |   AX 팀·BDC — AI-ready 데이터 POC(PLM-MCP), 서버·DB·접근권한 표준, AX 기반 공유 연결 체계.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E3A5F"/>
                </a:solidFill>
                <a:latin typeface="Malgun Gothic"/>
              </a:rPr>
              <a:t>플랫폼 개발 로드맵 (안)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7A"/>
                </a:solidFill>
                <a:latin typeface="Malgun Gothic"/>
              </a:rPr>
              <a:t>재료 물성 기반 위에 복합 물성 축 확립 → 시험–해석 상호 검증 → AX 공유 연결 체계 — 단계별 일정은 킥오프 시 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200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7A"/>
                </a:solidFill>
                <a:latin typeface="Malgun Gothic"/>
              </a:rPr>
              <a:t>복합 물성 TF 킥오프  ·  3/4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7295" cy="9144"/>
          </a:xfrm>
          <a:prstGeom prst="rect">
            <a:avLst/>
          </a:prstGeom>
          <a:solidFill>
            <a:srgbClr val="D9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ntagon 6"/>
          <p:cNvSpPr/>
          <p:nvPr/>
        </p:nvSpPr>
        <p:spPr>
          <a:xfrm>
            <a:off x="457200" y="1325880"/>
            <a:ext cx="2697480" cy="658368"/>
          </a:xfrm>
          <a:prstGeom prst="homePlate">
            <a:avLst/>
          </a:prstGeom>
          <a:solidFill>
            <a:srgbClr val="6B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2148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0단계 · 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64208"/>
            <a:ext cx="2148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재료 물성 체계 구축 완료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2697480" cy="2148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0352" y="2103120"/>
            <a:ext cx="2551176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재료·시료·시편·시험 등록, 파일 형식 프로파일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처리(인장·DMA)·결과·카드, 기준정보(규격·시험 종류)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재료 모델 피팅·솔버 카드 내보내기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기존 DB 이관 도구, 물성별 확장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13632"/>
            <a:ext cx="2514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6B727A"/>
                </a:solidFill>
                <a:latin typeface="Malgun Gothic"/>
              </a:rPr>
              <a:t>주관: CAE (현행)</a:t>
            </a:r>
          </a:p>
        </p:txBody>
      </p:sp>
      <p:sp>
        <p:nvSpPr>
          <p:cNvPr id="13" name="Chevron 12"/>
          <p:cNvSpPr/>
          <p:nvPr/>
        </p:nvSpPr>
        <p:spPr>
          <a:xfrm>
            <a:off x="3317443" y="1325880"/>
            <a:ext cx="2697480" cy="658368"/>
          </a:xfrm>
          <a:prstGeom prst="chevron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74643" y="1344168"/>
            <a:ext cx="1874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1단계 · 복합 물성 축 확립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4643" y="1664208"/>
            <a:ext cx="1874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MX 현황 확인 → 등록 포맷 표준화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7443" y="2029968"/>
            <a:ext cx="2697480" cy="2148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90595" y="2103120"/>
            <a:ext cx="2551176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MX 시험 데이터 체계 확인 (4장 A·B 절) → 스키마 확정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구성체·변형체, 시험법·불량 모드·부품 코드 기준정보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온습도·피로 시험 종류·처리 확장, 평가 데이터 등록 포맷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데이터 출처·등급 필드, 사업부 간 공유 범위 확정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8883" y="3913632"/>
            <a:ext cx="2514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E3A5F"/>
                </a:solidFill>
                <a:latin typeface="Malgun Gothic"/>
              </a:rPr>
              <a:t>주관: DT사무국 · 신뢰성 · CAE</a:t>
            </a:r>
          </a:p>
        </p:txBody>
      </p:sp>
      <p:sp>
        <p:nvSpPr>
          <p:cNvPr id="19" name="Chevron 18"/>
          <p:cNvSpPr/>
          <p:nvPr/>
        </p:nvSpPr>
        <p:spPr>
          <a:xfrm>
            <a:off x="6177686" y="1325880"/>
            <a:ext cx="2697480" cy="658368"/>
          </a:xfrm>
          <a:prstGeom prst="chevron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34886" y="1344168"/>
            <a:ext cx="1874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2단계 · 상호 검증 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4886" y="1664208"/>
            <a:ext cx="1874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시험–해석 규격 쌍 구축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7686" y="2029968"/>
            <a:ext cx="2697480" cy="2148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50838" y="2103120"/>
            <a:ext cx="2551176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추정 물성 모델 — 출처·가정·불확실성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역공학 실행 — 시험 집합 → 층 물성 추정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해석 기반 리스크 도출 → 시료 배분, 층 변경 판별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파일럿 1건(예: 결로) 통한 전 사이클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9126" y="3913632"/>
            <a:ext cx="2514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Malgun Gothic"/>
              </a:rPr>
              <a:t>주관: CAE · 개발DT · 신뢰성</a:t>
            </a:r>
          </a:p>
        </p:txBody>
      </p:sp>
      <p:sp>
        <p:nvSpPr>
          <p:cNvPr id="25" name="Chevron 24"/>
          <p:cNvSpPr/>
          <p:nvPr/>
        </p:nvSpPr>
        <p:spPr>
          <a:xfrm>
            <a:off x="9037929" y="1325880"/>
            <a:ext cx="2697480" cy="658368"/>
          </a:xfrm>
          <a:prstGeom prst="chevron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495129" y="1344168"/>
            <a:ext cx="1874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3단계 · AX 공유 연결 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5129" y="1664208"/>
            <a:ext cx="1874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Malgun Gothic"/>
              </a:rPr>
              <a:t>메커니즘 도출·AI 시험법 발굴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7929" y="2029968"/>
            <a:ext cx="2697480" cy="21488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11081" y="2103120"/>
            <a:ext cx="2551176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SSO 연동, BDC 로의 DB·서버 이관 (권한 거버넌스)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구성체–시험법–불량 모드 온톨로지 / 그래프 DB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Claude·MCP 연계 — 시험 문제 발생 시 메커니즘 도출 지원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1F242B"/>
                </a:solidFill>
                <a:latin typeface="Malgun Gothic"/>
              </a:rPr>
              <a:t>• 시장 리스크 기반 신뢰성 시험법 발굴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9369" y="3913632"/>
            <a:ext cx="2514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6A00"/>
                </a:solidFill>
                <a:latin typeface="Malgun Gothic"/>
              </a:rPr>
              <a:t>주관: DT사무국 · AX/BDC · 신뢰성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4340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algun Gothic"/>
              </a:rPr>
              <a:t>킥오프 결정 사항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63440"/>
            <a:ext cx="5532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8640" y="4727448"/>
            <a:ext cx="534924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42B"/>
                </a:solidFill>
                <a:latin typeface="Malgun Gothic"/>
              </a:rPr>
              <a:t>• 단계별 목표 일정 및 TF 구성원 (조직별 담당자·창구)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42B"/>
                </a:solidFill>
                <a:latin typeface="Malgun Gothic"/>
              </a:rPr>
              <a:t>• 파일럿 구성체·불량 모드(결로 등) 및 성공 기준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42B"/>
                </a:solidFill>
                <a:latin typeface="Malgun Gothic"/>
              </a:rPr>
              <a:t>• 1단계 우선 대상 부품·층 구조 범위, 등록 포맷 표준화 대상 시험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42B"/>
                </a:solidFill>
                <a:latin typeface="Malgun Gothic"/>
              </a:rPr>
              <a:t>• MX 확인 요청 목록(4장)의 담당·회신 일정 — 1차 묶음 1주 내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42B"/>
                </a:solidFill>
                <a:latin typeface="Malgun Gothic"/>
              </a:rPr>
              <a:t>• 시험법 성숙도 승격 기준, 사업부 간 공유 범위·등급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34340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A83232"/>
                </a:solidFill>
                <a:latin typeface="Malgun Gothic"/>
              </a:rPr>
              <a:t>사전 확인 사항 (AX 팀·BDC 협의)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663440"/>
            <a:ext cx="551383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09360" y="4727448"/>
            <a:ext cx="534924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42B"/>
                </a:solidFill>
                <a:latin typeface="Malgun Gothic"/>
              </a:rPr>
              <a:t>• BDC 서버 — 외부 인터넷 차단 해제 가능 여부, 개인정보 범위, GPU 계산 서버 지원, 요구 양식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42B"/>
                </a:solidFill>
                <a:latin typeface="Malgun Gothic"/>
              </a:rPr>
              <a:t>• 구성체(층 구조) 정보의 PLM/BOM 연계 및 자체 테이블 복제 저장 허용 여부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42B"/>
                </a:solidFill>
                <a:latin typeface="Malgun Gothic"/>
              </a:rPr>
              <a:t>• 역공학 추정 업체 층 물성의 기밀 해당 여부 — 추정값 등급·공유 범위 결정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1F242B"/>
                </a:solidFill>
                <a:latin typeface="Malgun Gothic"/>
              </a:rPr>
              <a:t>• 전략과제 접근 제한 적용 지점 — 저장 불가 시 온톨로지 구성 불가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E3A5F"/>
                </a:solidFill>
                <a:latin typeface="Malgun Gothic"/>
              </a:rPr>
              <a:t>플랫폼 요구사항 — 기존 시험 데이터 체계와의 정렬, MX 확인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7A"/>
                </a:solidFill>
                <a:latin typeface="Malgun Gothic"/>
              </a:rPr>
              <a:t>플랫폼 개발 주체(GTR 디지털트윈사무국)는 MX 현장 데이터를 직접 볼 수 없음 — DB 설계에 앞선 확인 항목의 목록화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3200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7A"/>
                </a:solidFill>
                <a:latin typeface="Malgun Gothic"/>
              </a:rPr>
              <a:t>복합 물성 TF 킥오프  · 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7295" cy="9144"/>
          </a:xfrm>
          <a:prstGeom prst="rect">
            <a:avLst/>
          </a:prstGeom>
          <a:solidFill>
            <a:srgbClr val="D9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algun Gothic"/>
              </a:rPr>
              <a:t>정렬해야 하는 네 사슬 — 한 줄로 이어져야 하는 데이터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2679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0352" y="1673352"/>
            <a:ext cx="253288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E3A5F"/>
                </a:solidFill>
                <a:latin typeface="Malgun Gothic"/>
              </a:rPr>
              <a:t>① 기존 부품 시험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38528"/>
            <a:ext cx="253288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현행 관리 방식 그대로 수용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12848"/>
            <a:ext cx="2532888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7A"/>
                </a:solidFill>
                <a:latin typeface="Malgun Gothic"/>
              </a:rPr>
              <a:t>정렬: 부품 코드·시험 종류·조건·판정·성적서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1920240"/>
            <a:ext cx="21945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7A"/>
                </a:solidFill>
                <a:latin typeface="Malgun Gothic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645920"/>
            <a:ext cx="2679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4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92424" y="1673352"/>
            <a:ext cx="253288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46A00"/>
                </a:solidFill>
                <a:latin typeface="Malgun Gothic"/>
              </a:rPr>
              <a:t>② 재현 시험 (시장 불량)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938528"/>
            <a:ext cx="253288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시험법·불량 모드·재현 판정 구조화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2212848"/>
            <a:ext cx="2532888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7A"/>
                </a:solidFill>
                <a:latin typeface="Malgun Gothic"/>
              </a:rPr>
              <a:t>정렬: 초안→검증→규격, 시장 불량 정보 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176" y="1920240"/>
            <a:ext cx="21945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7A"/>
                </a:solidFill>
                <a:latin typeface="Malgun Gothic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645920"/>
            <a:ext cx="2679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54496" y="1673352"/>
            <a:ext cx="253288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E7C86"/>
                </a:solidFill>
                <a:latin typeface="Malgun Gothic"/>
              </a:rPr>
              <a:t>③ 역공학·추정 물성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938528"/>
            <a:ext cx="253288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가정·불확실성과 함께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212848"/>
            <a:ext cx="2532888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7A"/>
                </a:solidFill>
                <a:latin typeface="Malgun Gothic"/>
              </a:rPr>
              <a:t>정렬: CAE 입력 조합·솔버·재료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1920240"/>
            <a:ext cx="21945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7A"/>
                </a:solidFill>
                <a:latin typeface="Malgun Gothic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1645920"/>
            <a:ext cx="267919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4A5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16568" y="1673352"/>
            <a:ext cx="253288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4A5E7A"/>
                </a:solidFill>
                <a:latin typeface="Malgun Gothic"/>
              </a:rPr>
              <a:t>④ 시뮬레이션 방법론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1938528"/>
            <a:ext cx="253288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시나리오를 시험과 해석이 공유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212848"/>
            <a:ext cx="2532888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727A"/>
                </a:solidFill>
                <a:latin typeface="Malgun Gothic"/>
              </a:rPr>
              <a:t>정렬: 해석 절차·지그·비교 규칙 (규격 쌍)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633472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7A"/>
                </a:solidFill>
                <a:latin typeface="Malgun Gothic"/>
              </a:rPr>
              <a:t>가로지르는 요구사항 — 식별자는 기존 시스템(PLM·트랜스·성적서)과 동일 · 등급·출처 체계 단일화 · 원본(장비 파일·사진·성적서) 보존 · 오프라인 설치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algun Gothic"/>
              </a:rPr>
              <a:t>MX 확인 요청 목록 — 6개 영역 35항목 (필수 24) · 상세는 「플랫폼-요구사항-MX확인요청」 문서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91840"/>
            <a:ext cx="11277295" cy="2743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02920" y="3310128"/>
            <a:ext cx="2971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영역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310128"/>
            <a:ext cx="150876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답하는 조직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59" y="3310128"/>
            <a:ext cx="5486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310128"/>
            <a:ext cx="5879592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내용 — 각 항목에 「왜 필요한가 → DB 의 자리」 「받는 형태」 「필수/권장」 을 붙였다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566160"/>
            <a:ext cx="11277295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3566160"/>
            <a:ext cx="64008" cy="512064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3593591"/>
            <a:ext cx="2926080" cy="466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A. 기존 부품 시험 데이터 관리 체계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3593591"/>
            <a:ext cx="1508760" cy="466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6A00"/>
                </a:solidFill>
                <a:latin typeface="Malgun Gothic"/>
              </a:rPr>
              <a:t>신뢰성 그룹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59" y="3593591"/>
            <a:ext cx="548640" cy="466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B46A00"/>
                </a:solidFill>
                <a:latin typeface="Malgun Gothic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3593591"/>
            <a:ext cx="5879592" cy="4663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F242B"/>
                </a:solidFill>
                <a:latin typeface="Malgun Gothic"/>
              </a:rPr>
              <a:t>식별 체계 · 층 구조의 소재(PLM/BOM) · 변경점 · 시험 종류·규격 · 조건 항목·단위 · 시나리오 표현 · 장비 원본 파일 · 지그 · 측정·기록 항목 · 판정·재시험 · 저장 위치·파일명 · 성적서·승인원 양식 · 열람 권한 · 규모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078224"/>
            <a:ext cx="1127729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457200" y="4078224"/>
            <a:ext cx="64008" cy="402336"/>
          </a:xfrm>
          <a:prstGeom prst="rect">
            <a:avLst/>
          </a:prstGeom>
          <a:solidFill>
            <a:srgbClr val="B4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66928" y="4105656"/>
            <a:ext cx="2926080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B. 재현 시험(시장 불량 재현) 체계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4105656"/>
            <a:ext cx="1508760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6A00"/>
                </a:solidFill>
                <a:latin typeface="Malgun Gothic"/>
              </a:rPr>
              <a:t>신뢰성 그룹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59" y="4105656"/>
            <a:ext cx="548640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B46A00"/>
                </a:solidFill>
                <a:latin typeface="Malgun Gothic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4105656"/>
            <a:ext cx="5879592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F242B"/>
                </a:solidFill>
                <a:latin typeface="Malgun Gothic"/>
              </a:rPr>
              <a:t>불량 모드 분류 · 불량 정보 출처 시스템·연결 키 · 재현 시험 실제 사례 3건 · 「재현됨」 판정 기준 · 시험법 개발 절차(초안→검증→규격) · 외부 규격 인용 · 시료 배분 기록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80560"/>
            <a:ext cx="1127729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57200" y="4480560"/>
            <a:ext cx="64008" cy="40233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66928" y="4507992"/>
            <a:ext cx="2926080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C. 역공학·시뮬레이션 연계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4507992"/>
            <a:ext cx="1508760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Malgun Gothic"/>
              </a:rPr>
              <a:t>CAE 그룹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59" y="4507992"/>
            <a:ext cx="548640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4507992"/>
            <a:ext cx="5879592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F242B"/>
                </a:solidFill>
                <a:latin typeface="Malgun Gothic"/>
              </a:rPr>
              <a:t>역공학 입력 조합·채널·해상도 · 솔버·재료 모델·파라미터 카드 형식 · 해석 결과 형식·시험 비교 지표 · 해석 절차서 · 층 물성 가정 출처(컴플라이언스)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882896"/>
            <a:ext cx="11277295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457200" y="4882896"/>
            <a:ext cx="64008" cy="292608"/>
          </a:xfrm>
          <a:prstGeom prst="rect">
            <a:avLst/>
          </a:prstGeom>
          <a:solidFill>
            <a:srgbClr val="4A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66928" y="4910328"/>
            <a:ext cx="292608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D. 시험 조건 제반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4910328"/>
            <a:ext cx="150876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A5E7A"/>
                </a:solidFill>
                <a:latin typeface="Malgun Gothic"/>
              </a:rPr>
              <a:t>개발디지털트윈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66359" y="4910328"/>
            <a:ext cx="548640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4A5E7A"/>
                </a:solidFill>
                <a:latin typeface="Malgun Gothic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4910328"/>
            <a:ext cx="5879592" cy="2468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F242B"/>
                </a:solidFill>
                <a:latin typeface="Malgun Gothic"/>
              </a:rPr>
              <a:t>지그 정보(도면·식별·버전) · 구성체 비교 규칙·기준 시료 선정 · 시험 조건 성립 체크리스트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175504"/>
            <a:ext cx="11277295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457200" y="5175504"/>
            <a:ext cx="6400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66928" y="5202936"/>
            <a:ext cx="2926080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1F242B"/>
                </a:solidFill>
                <a:latin typeface="Malgun Gothic"/>
              </a:rPr>
              <a:t>E·F. 기존 물성 DB·사내 시스템 정렬, 운영 제약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66160" y="5202936"/>
            <a:ext cx="1508760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E3A5F"/>
                </a:solidFill>
                <a:latin typeface="Malgun Gothic"/>
              </a:rPr>
              <a:t>CS 환경센터·AX·BDC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59" y="5202936"/>
            <a:ext cx="548640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E3A5F"/>
                </a:solidFill>
                <a:latin typeface="Malgun Gothic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06440" y="5202936"/>
            <a:ext cx="5879592" cy="3566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F242B"/>
                </a:solidFill>
                <a:latin typeface="Malgun Gothic"/>
              </a:rPr>
              <a:t>CS 재료 물성 DB 항목·식별자·접근 · PLM/BOM API · SSO 방식 · 디지털트윈사무국 협업 범위 · 서버 조건(인터넷·GPU·개인정보) · 사용자 규모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669280"/>
            <a:ext cx="11277295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94360" y="5696712"/>
            <a:ext cx="1097280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E3A5F"/>
                </a:solidFill>
                <a:latin typeface="Malgun Gothic"/>
              </a:rPr>
              <a:t>요청 순서 — 세 묶음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1F242B"/>
                </a:solidFill>
                <a:latin typeface="Malgun Gothic"/>
              </a:rPr>
              <a:t>1차 (킥오프 후 1주): A1·A2·A4·A7·A11·B1·B3 — 이 7개만 받아도 구성체·시험 종류·이관 범위가 정해지고 첫 데이터가 들어온다   |   2차 (1단계 중): 시험법·판정 구조 확정   |   3차 (파일럿 전): 역공학·판별 스키마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